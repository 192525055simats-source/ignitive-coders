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70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Monthly Fund Recovery (₹ 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 (₹L)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71</c:v>
                </c:pt>
                <c:pt idx="4">
                  <c:v>64</c:v>
                </c:pt>
                <c:pt idx="5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98-483E-9913-46AE54A00B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1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4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3657600" cy="59436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96054" y="-8223"/>
            <a:ext cx="2926080" cy="514350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959" y="1426464"/>
            <a:ext cx="73152" cy="19202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4864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54864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54864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54864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37160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137160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37160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37160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9456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219456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19456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19456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301752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301752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301752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84048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384048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384048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3840480"/>
            <a:ext cx="54864" cy="54864"/>
          </a:xfrm>
          <a:prstGeom prst="ellipse">
            <a:avLst/>
          </a:prstGeom>
          <a:solidFill>
            <a:srgbClr val="2979C8">
              <a:alpha val="40000"/>
            </a:srgbClr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8294" y="8791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8DCF5"/>
                </a:solidFill>
              </a:rPr>
              <a:t>CYBERCRIME INTELLIGENCE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" y="1701422"/>
            <a:ext cx="54315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58368" y="358444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B93B0"/>
                </a:solidFill>
              </a:rPr>
              <a:t>Forecasting Cash Withdrawal Locations • Enabling Proactive Law Enforcement • Tamil Nadu Cybercrime Division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0" y="41330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1280160"/>
            <a:ext cx="1824228" cy="1572768"/>
          </a:xfrm>
          <a:prstGeom prst="rect">
            <a:avLst/>
          </a:prstGeom>
          <a:solidFill>
            <a:srgbClr val="1A5FA8">
              <a:alpha val="15000"/>
            </a:srgbClr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234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2979C8"/>
                </a:solidFill>
              </a:rPr>
              <a:t>⛨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630936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DCF5"/>
                </a:solidFill>
              </a:rPr>
              <a:t>CyberShield Analytics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8856" y="99237"/>
            <a:ext cx="4295553" cy="822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INTRODUCTION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8856" y="971107"/>
            <a:ext cx="8491870" cy="40120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Cybercrime incidents are increasing rapidly, causing major financial losses and security threats across the country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Traditional investigation methods are mostly reactive and often fail to prevent fraudulent cash withdrawals in real time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Predictive analytics and machine learning can help identify suspicious patterns and forecast high-risk withdrawal locations before crimes occur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CyberShield</a:t>
            </a:r>
            <a:r>
              <a:rPr lang="en-US" dirty="0"/>
              <a:t> Analytics Platform integrates complaint data, banking information, and intelligent algorithms to support proactive law enforcement 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This project aims to improve cybercrime prevention, enhance investigation efficiency, and enable faster intervention through real-time intelligence and predictive modeling.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7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Cybercrime Goes Unpunished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Reactive, Not Proactive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6080"/>
                </a:solidFill>
              </a:rPr>
              <a:t>Law enforcement responds after funds are already withdrawn. The golden hour is missed.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06040" cy="54864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680A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No Location 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17627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6080"/>
                </a:solidFill>
              </a:rPr>
              <a:t>Complaints lack prediction of where mules will physically withdraw cash across ATM networks.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60604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FA8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Fragmented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17627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6080"/>
                </a:solidFill>
              </a:rPr>
              <a:t>Complaints, bank data, and mule profiles sit in silos — preventing pattern detection.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22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₹1.47L Cr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Online fraud losses in India (2023)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16352" y="3822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30 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16352" y="4206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Average time to withdraw stolen funds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01184" y="3822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7.2%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01184" y="4206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National cybercrime conviction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3822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6016" y="4206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Cases closed due to no physical evidence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6869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93B0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 Platform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508760" cy="26060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508760" cy="54864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Ingestion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Complaint portal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NCRP API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61518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Bank feeds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2286000"/>
            <a:ext cx="201168" cy="54864"/>
          </a:xfrm>
          <a:prstGeom prst="rect">
            <a:avLst/>
          </a:prstGeom>
          <a:solidFill>
            <a:srgbClr val="7B93B0"/>
          </a:solidFill>
          <a:ln w="12700">
            <a:solidFill>
              <a:srgbClr val="7B93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143000"/>
            <a:ext cx="1508760" cy="26060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143000"/>
            <a:ext cx="1508760" cy="54864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12618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30552" y="16642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Feature extraction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0552" y="2139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NLP tagging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0552" y="261518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Deduplication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47872" y="2286000"/>
            <a:ext cx="201168" cy="54864"/>
          </a:xfrm>
          <a:prstGeom prst="rect">
            <a:avLst/>
          </a:prstGeom>
          <a:solidFill>
            <a:srgbClr val="7B93B0"/>
          </a:solidFill>
          <a:ln w="12700">
            <a:solidFill>
              <a:srgbClr val="7B93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143000"/>
            <a:ext cx="1508760" cy="26060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143000"/>
            <a:ext cx="150876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12618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9624" y="16642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XGBoost 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9624" y="2139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LSTM patterns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9624" y="261518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Ensemble fusion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66944" y="2286000"/>
            <a:ext cx="201168" cy="54864"/>
          </a:xfrm>
          <a:prstGeom prst="rect">
            <a:avLst/>
          </a:prstGeom>
          <a:solidFill>
            <a:srgbClr val="7B93B0"/>
          </a:solidFill>
          <a:ln w="12700">
            <a:solidFill>
              <a:srgbClr val="7B93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7256" y="1143000"/>
            <a:ext cx="1508760" cy="26060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7256" y="1143000"/>
            <a:ext cx="1508760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12618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68696" y="16642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Hotspot ranking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68696" y="2139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Alert generation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68696" y="261518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Mule graph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86016" y="2286000"/>
            <a:ext cx="201168" cy="54864"/>
          </a:xfrm>
          <a:prstGeom prst="rect">
            <a:avLst/>
          </a:prstGeom>
          <a:solidFill>
            <a:srgbClr val="7B93B0"/>
          </a:solidFill>
          <a:ln w="12700">
            <a:solidFill>
              <a:srgbClr val="7B93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1143000"/>
            <a:ext cx="1508760" cy="26060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96328" y="1143000"/>
            <a:ext cx="1508760" cy="548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12618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87768" y="16642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Dashboard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87768" y="2139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NPCI freeze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87768" y="261518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5"/>
                </a:solidFill>
              </a:rPr>
              <a:t>▸  Field dispatch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0"/>
                </a:solidFill>
              </a:rPr>
              <a:t>Integrated with: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45920" y="3968496"/>
            <a:ext cx="1325880" cy="530352"/>
          </a:xfrm>
          <a:prstGeom prst="rect">
            <a:avLst/>
          </a:prstGeom>
          <a:solidFill>
            <a:srgbClr val="112240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968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</a:rPr>
              <a:t>NPCI Golden Hour API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54680" y="3968496"/>
            <a:ext cx="1325880" cy="530352"/>
          </a:xfrm>
          <a:prstGeom prst="rect">
            <a:avLst/>
          </a:prstGeom>
          <a:solidFill>
            <a:srgbClr val="112240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3968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</a:rPr>
              <a:t>NCRP Portal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968496"/>
            <a:ext cx="1325880" cy="530352"/>
          </a:xfrm>
          <a:prstGeom prst="rect">
            <a:avLst/>
          </a:prstGeom>
          <a:solidFill>
            <a:srgbClr val="112240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968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</a:rPr>
              <a:t>I4C Cybercrime API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3968496"/>
            <a:ext cx="1325880" cy="530352"/>
          </a:xfrm>
          <a:prstGeom prst="rect">
            <a:avLst/>
          </a:prstGeom>
          <a:solidFill>
            <a:srgbClr val="112240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3968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</a:rPr>
              <a:t>State Police Net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80960" y="3968496"/>
            <a:ext cx="1325880" cy="530352"/>
          </a:xfrm>
          <a:prstGeom prst="rect">
            <a:avLst/>
          </a:prstGeom>
          <a:solidFill>
            <a:srgbClr val="112240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9684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5"/>
                </a:solidFill>
              </a:rPr>
              <a:t>RBI CERSAI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Predictive Hotspot Engine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Model Feature Weights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Complaint Geo-cluster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444752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444752"/>
            <a:ext cx="541325" cy="1828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173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32%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Transaction Time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920240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920240"/>
            <a:ext cx="405994" cy="182880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928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Mule Account Home Address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395728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395728"/>
            <a:ext cx="321412" cy="182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36829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19%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4378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Bank Branch Proximity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871216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2871216"/>
            <a:ext cx="202997" cy="182880"/>
          </a:xfrm>
          <a:prstGeom prst="rect">
            <a:avLst/>
          </a:prstGeom>
          <a:solidFill>
            <a:srgbClr val="7B93B0"/>
          </a:solidFill>
          <a:ln w="12700">
            <a:solidFill>
              <a:srgbClr val="7B93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84378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192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Historical Mule Behavior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3346704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346704"/>
            <a:ext cx="135331" cy="182880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3192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8%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Network Centrality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3822192"/>
            <a:ext cx="169164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3822192"/>
            <a:ext cx="84582" cy="182880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7947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1051560"/>
            <a:ext cx="3474720" cy="3749040"/>
          </a:xfrm>
          <a:prstGeom prst="rect">
            <a:avLst/>
          </a:prstGeom>
          <a:solidFill>
            <a:srgbClr val="EAF2FD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170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Model Performance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1536192"/>
            <a:ext cx="3108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1581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Location Prediction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1554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FA8"/>
                </a:solidFill>
              </a:rPr>
              <a:t>87%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96128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Accuracy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2157984"/>
            <a:ext cx="3108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22037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Time Window 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17627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FA8"/>
                </a:solidFill>
              </a:rPr>
              <a:t>79%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96128" y="2432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±30 min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0" y="2779776"/>
            <a:ext cx="3108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28254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Mule Identification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2798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FA8"/>
                </a:solidFill>
              </a:rPr>
              <a:t>92%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596128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Precision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0" y="3401568"/>
            <a:ext cx="3108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447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Amount Estimation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34198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FA8"/>
                </a:solidFill>
              </a:rPr>
              <a:t>71%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596128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Within 20%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4023360"/>
            <a:ext cx="31089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False Positive 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40416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FA8"/>
                </a:solidFill>
              </a:rPr>
              <a:t>8.3%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596128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Acceptable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434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6080"/>
                </a:solidFill>
              </a:rPr>
              <a:t>Algorithms: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554480" y="4416552"/>
            <a:ext cx="896112" cy="2743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0" y="4416552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XGBoost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42032" y="4416552"/>
            <a:ext cx="896112" cy="2743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4416552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LSTM Neural Net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529584" y="4416552"/>
            <a:ext cx="896112" cy="2743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9584" y="4416552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17136" y="4416552"/>
            <a:ext cx="896112" cy="2743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17136" y="4416552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Ensemble Fusion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OPERATIONAL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From Complaint to Intervention: 5-Step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53619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207008"/>
            <a:ext cx="438912" cy="43891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Complaint Filed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3533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Victim reports via portal. Auto-triage assigns severity &amp; links prior complaints.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987552" cy="25603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 min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10512" y="2423160"/>
            <a:ext cx="182880" cy="36576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143000"/>
            <a:ext cx="153619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207008"/>
            <a:ext cx="438912" cy="438912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173736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148840"/>
            <a:ext cx="13533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NLP extracts UPI IDs, account numbers, timestamps. Graph DB links mule networks.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67712" y="3474720"/>
            <a:ext cx="987552" cy="256032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34747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30 sec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29584" y="2423160"/>
            <a:ext cx="182880" cy="36576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143000"/>
            <a:ext cx="153619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1104" y="1207008"/>
            <a:ext cx="438912" cy="43891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61104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03904" y="173736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ML Prediction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2148840"/>
            <a:ext cx="13533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Ensemble model forecasts top-N withdrawal locations with probability &amp; time window.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86784" y="3474720"/>
            <a:ext cx="987552" cy="25603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86784" y="34747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60 sec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48656" y="2423160"/>
            <a:ext cx="182880" cy="36576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1143000"/>
            <a:ext cx="153619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0176" y="1207008"/>
            <a:ext cx="438912" cy="438912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22976" y="173736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Alert Dispatch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22976" y="2148840"/>
            <a:ext cx="13533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Officers receive push alerts with map pins, ATM IDs, and mule photo (if available).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05856" y="3474720"/>
            <a:ext cx="987552" cy="256032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05856" y="34747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2 min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67728" y="2423160"/>
            <a:ext cx="182880" cy="36576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1143000"/>
            <a:ext cx="153619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99248" y="1207008"/>
            <a:ext cx="438912" cy="43891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42048" y="173736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Freeze &amp; Intercept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42048" y="2148840"/>
            <a:ext cx="13533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NPCI freeze API called simultaneously. Field team deployed to intercept.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24928" y="3474720"/>
            <a:ext cx="987552" cy="2560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34747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5 min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913632"/>
            <a:ext cx="85953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0050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⏱  Target: Complete pipeline execution in under 5 minutes — aligned with NPCI's Golden Hour window for maximum fund recovery.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93B0"/>
                </a:solidFill>
              </a:rPr>
              <a:t>LOCATION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Predictive Threat Mapping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303520" cy="35661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530352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097280"/>
            <a:ext cx="7315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23744"/>
            <a:ext cx="530352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097280"/>
            <a:ext cx="7315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36976"/>
            <a:ext cx="530352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097280"/>
            <a:ext cx="7315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950208"/>
            <a:ext cx="530352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097280"/>
            <a:ext cx="7315" cy="35661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1676400"/>
            <a:ext cx="1005840" cy="1005840"/>
          </a:xfrm>
          <a:prstGeom prst="ellipse">
            <a:avLst/>
          </a:prstGeom>
          <a:solidFill>
            <a:srgbClr val="C0392B">
              <a:alpha val="45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7672" y="1947672"/>
            <a:ext cx="128016" cy="128016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9202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T. Nagar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91%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32688" y="1505712"/>
            <a:ext cx="694944" cy="694944"/>
          </a:xfrm>
          <a:prstGeom prst="ellipse">
            <a:avLst/>
          </a:prstGeom>
          <a:solidFill>
            <a:srgbClr val="D4680A">
              <a:alpha val="45000"/>
            </a:srgbClr>
          </a:solidFill>
          <a:ln w="19050">
            <a:solidFill>
              <a:srgbClr val="D468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6152" y="1673352"/>
            <a:ext cx="128016" cy="128016"/>
          </a:xfrm>
          <a:prstGeom prst="ellipse">
            <a:avLst/>
          </a:prstGeom>
          <a:solidFill>
            <a:srgbClr val="D4680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6459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Anna Nagar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78%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0" y="2194560"/>
            <a:ext cx="548640" cy="548640"/>
          </a:xfrm>
          <a:prstGeom prst="ellipse">
            <a:avLst/>
          </a:prstGeom>
          <a:solidFill>
            <a:srgbClr val="E8A000">
              <a:alpha val="45000"/>
            </a:srgbClr>
          </a:solidFill>
          <a:ln w="19050">
            <a:solidFill>
              <a:srgbClr val="E8A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6392" y="2313432"/>
            <a:ext cx="128016" cy="128016"/>
          </a:xfrm>
          <a:prstGeom prst="ellipse">
            <a:avLst/>
          </a:prstGeom>
          <a:solidFill>
            <a:srgbClr val="E8A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286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Vadapalani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63%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59152" y="3066288"/>
            <a:ext cx="402336" cy="402336"/>
          </a:xfrm>
          <a:prstGeom prst="ellipse">
            <a:avLst/>
          </a:prstGeom>
          <a:solidFill>
            <a:srgbClr val="E8A000">
              <a:alpha val="45000"/>
            </a:srgbClr>
          </a:solidFill>
          <a:ln w="19050">
            <a:solidFill>
              <a:srgbClr val="E8A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3136392"/>
            <a:ext cx="128016" cy="128016"/>
          </a:xfrm>
          <a:prstGeom prst="ellipse">
            <a:avLst/>
          </a:prstGeom>
          <a:solidFill>
            <a:srgbClr val="E8A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1089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Tambaram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57%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1248" y="2724912"/>
            <a:ext cx="329184" cy="329184"/>
          </a:xfrm>
          <a:prstGeom prst="ellipse">
            <a:avLst/>
          </a:prstGeom>
          <a:solidFill>
            <a:srgbClr val="1A7A4A">
              <a:alpha val="45000"/>
            </a:srgbClr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" y="2770632"/>
            <a:ext cx="128016" cy="128016"/>
          </a:xfrm>
          <a:prstGeom prst="ellipse">
            <a:avLst/>
          </a:prstGeom>
          <a:solidFill>
            <a:srgbClr val="1A7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743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Porur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44%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5537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93B0"/>
                </a:solidFill>
              </a:rPr>
              <a:t>Chennai Metropolitan Area  |  Live Threat Map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8912" y="4315968"/>
            <a:ext cx="5120640" cy="219456"/>
          </a:xfrm>
          <a:prstGeom prst="rect">
            <a:avLst/>
          </a:prstGeom>
          <a:solidFill>
            <a:srgbClr val="0D1B2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79976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3616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5"/>
                </a:solidFill>
              </a:rPr>
              <a:t>Critical &gt;80%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56232" y="4379976"/>
            <a:ext cx="91440" cy="91440"/>
          </a:xfrm>
          <a:prstGeom prst="ellipse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43616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5"/>
                </a:solidFill>
              </a:rPr>
              <a:t>High 60–80%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18104" y="4379976"/>
            <a:ext cx="91440" cy="91440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5264" y="43616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5"/>
                </a:solidFill>
              </a:rPr>
              <a:t>Medium 40–60%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79976" y="4379976"/>
            <a:ext cx="91440" cy="914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7136" y="43616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5"/>
                </a:solidFill>
              </a:rPr>
              <a:t>Low &lt;40%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 Hotspots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60720" y="1481328"/>
            <a:ext cx="3017520" cy="9601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60720" y="1481328"/>
            <a:ext cx="54864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T. Nagar Cluster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25312" y="18013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6 ATMs · Window: 14:00–16:00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25312" y="20299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Est. ₹3.2L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168249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392B"/>
                </a:solidFill>
              </a:rPr>
              <a:t>91%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760720" y="2578608"/>
            <a:ext cx="3017520" cy="9601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60720" y="2578608"/>
            <a:ext cx="54864" cy="96012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Anna Nagar West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25312" y="28986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3 ATMs + Branch · 11:30–13:00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25312" y="31272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Est. ₹1.8L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63840" y="27797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4680A"/>
                </a:solidFill>
              </a:rPr>
              <a:t>78%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760720" y="3675888"/>
            <a:ext cx="3017520" cy="9601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760720" y="3675888"/>
            <a:ext cx="54864" cy="96012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25312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Vadapalani HDFC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25312" y="39959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4 ATMs · Window: 09:00–10:30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25312" y="4224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Est. ₹90K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63840" y="387705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A000"/>
                </a:solidFill>
              </a:rPr>
              <a:t>63%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PLATFORM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Unified Intelligence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12252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Complaint Registry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Dynamic risk-scored complaint list with ML severity badges, status tracking, and one-click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28416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85616" y="12252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Live Threat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5910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Interactive geospatial map showing hotspot confidence zones updated every 2 minutes.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1155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38544" y="12252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Prediction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15910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Full ML pipeline visibility: features, weights, confidence scores, and AI-generated intel briefs.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157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28254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Alert Center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1912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Prioritized alert feed with push dispatch to field officers. Acknowledge and track in real-time.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7157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28416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🕸️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85616" y="28254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Mule Network Graph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31912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Visual money mule cluster analysis — detect coordinators, track amounts, map account links.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71616" y="27157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81344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38544" y="282549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Auto Report Generation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8776" y="319125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6080"/>
                </a:solidFill>
              </a:rPr>
              <a:t>One-click FIR dossiers, daily intelligence briefs, and exportable PDF reports for courts.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93B0"/>
                </a:solidFill>
              </a:rPr>
              <a:t>All modules operate in real-time and are accessible via web, mobile, and secure CLI (Claude Code).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93B0"/>
                </a:solidFill>
              </a:rPr>
              <a:t>FRAUD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Money Mule Network Detection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87168" y="2487168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30175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</a:rPr>
              <a:t>Coord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0" cy="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1463040" y="1920240"/>
            <a:ext cx="365760" cy="365760"/>
          </a:xfrm>
          <a:prstGeom prst="ellipse">
            <a:avLst/>
          </a:prstGeom>
          <a:solidFill>
            <a:srgbClr val="D4680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3042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0" cy="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2560320" y="1463040"/>
            <a:ext cx="365760" cy="365760"/>
          </a:xfrm>
          <a:prstGeom prst="ellipse">
            <a:avLst/>
          </a:prstGeom>
          <a:solidFill>
            <a:srgbClr val="D4680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847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B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0" y="2743200"/>
            <a:ext cx="1097280" cy="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3657600" y="1920240"/>
            <a:ext cx="365760" cy="365760"/>
          </a:xfrm>
          <a:prstGeom prst="ellipse">
            <a:avLst/>
          </a:prstGeom>
          <a:solidFill>
            <a:srgbClr val="D4680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3042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0" y="2743200"/>
            <a:ext cx="1188720" cy="54864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3749040" y="3108960"/>
            <a:ext cx="365760" cy="365760"/>
          </a:xfrm>
          <a:prstGeom prst="ellipse">
            <a:avLst/>
          </a:prstGeom>
          <a:solidFill>
            <a:srgbClr val="E8A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4930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0" y="2743200"/>
            <a:ext cx="0" cy="118872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2560320" y="3749040"/>
            <a:ext cx="365760" cy="365760"/>
          </a:xfrm>
          <a:prstGeom prst="ellipse">
            <a:avLst/>
          </a:prstGeom>
          <a:solidFill>
            <a:srgbClr val="E8A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4133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0" y="2743200"/>
            <a:ext cx="0" cy="548640"/>
          </a:xfrm>
          <a:prstGeom prst="line">
            <a:avLst/>
          </a:prstGeom>
          <a:noFill/>
          <a:ln w="10160">
            <a:solidFill>
              <a:srgbClr val="456080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E8A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4930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CF5"/>
                </a:solidFill>
              </a:rPr>
              <a:t>Mule F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0" y="1051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Detected Clusters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417320"/>
            <a:ext cx="425196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41732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481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A — Chennai Central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17465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12 accounts · 3 coordinators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14813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₹47L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18013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93B0"/>
                </a:solidFill>
              </a:rPr>
              <a:t>Active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258568"/>
            <a:ext cx="425196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258568"/>
            <a:ext cx="54864" cy="73152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322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B — Tambaram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25877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7 accounts · 1 coordinators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232257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₹18L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26426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93B0"/>
                </a:solidFill>
              </a:rPr>
              <a:t>Active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099816"/>
            <a:ext cx="425196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099816"/>
            <a:ext cx="54864" cy="73152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163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C — Coimbatore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36592" y="3429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4 accounts · ? coordinators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31638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₹6L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348386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93B0"/>
                </a:solidFill>
              </a:rPr>
              <a:t>Suspected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3941064"/>
            <a:ext cx="425196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3941064"/>
            <a:ext cx="54864" cy="731520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4005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D — Online Only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42702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0"/>
                </a:solidFill>
              </a:rPr>
              <a:t>9 accounts · 2 coordinators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49440" y="40050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₹23L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9440" y="4325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93B0"/>
                </a:solidFill>
              </a:rPr>
              <a:t>Dormant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OPERATIONAL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Platform Impact &amp; Outcomes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50292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</a:rPr>
              <a:t>₹4.2 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Funds frozen to 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11556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15568"/>
            <a:ext cx="50292" cy="10058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</a:rPr>
              <a:t>89%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15184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Intervention success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5424" y="111556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35424" y="1115568"/>
            <a:ext cx="50292" cy="1005840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</a:rPr>
              <a:t>247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0016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Active complaints tracked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0256" y="1115568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0256" y="1115568"/>
            <a:ext cx="50292" cy="100584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</a:rPr>
              <a:t>34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84848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6080"/>
                </a:solidFill>
              </a:rPr>
              <a:t>Interventions today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2304288"/>
          <a:ext cx="42976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892040" y="2304288"/>
            <a:ext cx="3886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7492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Key Outcomes (Pilot Phase)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74920" y="27889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21808" y="2788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Average case resolution time reduced from 18 days to 3.2 days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74920" y="31181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21808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12 active hotspots predicted per day with 87% location accuracy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74920" y="34472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21808" y="3447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4 arrests this week from field team deployment based on AI predictions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74920" y="37764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21808" y="3776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34% fund recovery rate — 4× national average of 8.5%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074920" y="410565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321808" y="41056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NPCI Golden Hour compliance rate improved from 12% to 71%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074920" y="44348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A8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21808" y="4434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</a:rPr>
              <a:t>Zero false arrest incidents — 8.3% false positive rate managed safely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93B0"/>
                </a:solidFill>
              </a:rPr>
              <a:t>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 Intervention: T. Nagar, 08 June 2024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8016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070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09:12 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4356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Complaint filed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22529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</a:rPr>
              <a:t>Victim Meena S. reports UPI fraud of ₹85,000. Account XXXX4821 identified.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" y="1755648"/>
            <a:ext cx="5486" cy="109728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65376"/>
            <a:ext cx="841248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029968"/>
            <a:ext cx="320040" cy="32004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9568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FA8"/>
                </a:solidFill>
              </a:rPr>
              <a:t>09:13 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1854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pipeline triggered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97510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</a:rPr>
              <a:t>3 hotspots identified. T. Nagar cluster ranked #1 at 91% probability.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" y="2505456"/>
            <a:ext cx="5486" cy="109728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15184"/>
            <a:ext cx="841248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2779776"/>
            <a:ext cx="320040" cy="320040"/>
          </a:xfrm>
          <a:prstGeom prst="ellipse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7066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680A"/>
                </a:solidFill>
              </a:rPr>
              <a:t>09:15 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29352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Freeze order dispatched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72491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</a:rPr>
              <a:t>NPCI Golden Hour API call successful. Account XXXX4821 placed on hold.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" y="3255264"/>
            <a:ext cx="5486" cy="109728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64992"/>
            <a:ext cx="841248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529584"/>
            <a:ext cx="320040" cy="320040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79C8"/>
                </a:solidFill>
              </a:rPr>
              <a:t>09:28 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36850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Alpha deployed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47472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</a:rPr>
              <a:t>2 officers dispatched to T. Nagar ATM cluster with suspect profile.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" y="4005072"/>
            <a:ext cx="5486" cy="109728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" y="4279392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206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</a:rPr>
              <a:t>10:41 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₹64L frozen, FIR lodged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422452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5"/>
                </a:solidFill>
              </a:rPr>
              <a:t>Axis Bank confirmed hold. Coordinating mule arrested at ATM site.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Result: ₹64 Lakhs recovered · 1 coordinator arrested · FIR filed · Victim notified within 90 minutes of complaint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Technology Stack &amp; Integrations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933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1993392" cy="310896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1554480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React.js SPA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011680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Chart.js Analytics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468880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Leaflet.js Maps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926080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Mobile-Responsive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1115568"/>
            <a:ext cx="19933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1115568"/>
            <a:ext cx="1993392" cy="310896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115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06624" y="1554480"/>
            <a:ext cx="54864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1508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Node.js / FastAPI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06624" y="2011680"/>
            <a:ext cx="54864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REST + WebSocket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06624" y="2468880"/>
            <a:ext cx="54864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JWT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06624" y="2926080"/>
            <a:ext cx="54864" cy="54864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Rate Limiting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1115568"/>
            <a:ext cx="19933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1115568"/>
            <a:ext cx="1993392" cy="31089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1115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Services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82896" y="1554480"/>
            <a:ext cx="54864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1508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Python / scikit-learn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82896" y="2011680"/>
            <a:ext cx="54864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8344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XGBoost + LSTM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82896" y="2468880"/>
            <a:ext cx="54864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Feature Pipeline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82896" y="2926080"/>
            <a:ext cx="54864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Batch + Real-time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1115568"/>
            <a:ext cx="19933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94576" y="1115568"/>
            <a:ext cx="1993392" cy="310896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1115568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59168" y="1554480"/>
            <a:ext cx="54864" cy="54864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14616" y="1508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59168" y="2011680"/>
            <a:ext cx="54864" cy="54864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Neo4j Graph DB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59168" y="2468880"/>
            <a:ext cx="54864" cy="54864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14616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Redis Cache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59168" y="2926080"/>
            <a:ext cx="54864" cy="54864"/>
          </a:xfrm>
          <a:prstGeom prst="rect">
            <a:avLst/>
          </a:prstGeom>
          <a:solidFill>
            <a:srgbClr val="456080"/>
          </a:solidFill>
          <a:ln w="12700">
            <a:solidFill>
              <a:srgbClr val="456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14616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Elasticsearch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767328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864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Security &amp; Compliance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AES-256 Encryption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4215384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TLS 1.3 in Transit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20640" y="4215384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RBAC Access Control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4562856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4507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IT Act 2000 Compliant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34640" y="4562856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4507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DPDP Bill Ready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4562856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0" y="4507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</a:rPr>
              <a:t>Audit Logs (5yr)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3B0"/>
                </a:solidFill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080"/>
                </a:solidFill>
              </a:rPr>
              <a:t>IMPLEMENTATION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Deployment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651760" cy="45720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Pilot (0–3 months)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73936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Deploy in Chennai Metro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494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Connect NCRP &amp; NPCI APIs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Train 50 officers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10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Baseline model validation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1115568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115568"/>
            <a:ext cx="2651760" cy="457200"/>
          </a:xfrm>
          <a:prstGeom prst="rect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5214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1335024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Scale (3–9 months)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1773936"/>
            <a:ext cx="109728" cy="109728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Expand to 6 TN districts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304288"/>
            <a:ext cx="109728" cy="109728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2494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Mobile app for field officers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2834640"/>
            <a:ext cx="109728" cy="109728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7797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Court-admissible report export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3364992"/>
            <a:ext cx="109728" cy="109728"/>
          </a:xfrm>
          <a:prstGeom prst="ellipse">
            <a:avLst/>
          </a:prstGeom>
          <a:solidFill>
            <a:srgbClr val="2979C8"/>
          </a:solidFill>
          <a:ln w="12700">
            <a:solidFill>
              <a:srgbClr val="2979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310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Live bank integration (all PSBs)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1115568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1115568"/>
            <a:ext cx="2651760" cy="4572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115214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1335024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5"/>
                </a:solidFill>
              </a:rPr>
              <a:t>Full Rollout (9–18 months)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27064" y="1773936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State-wide TN deployment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27064" y="2304288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2494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Cross-state data sharing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27064" y="2834640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27797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Real-time ATM camera feed integration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27064" y="3364992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3310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D40"/>
                </a:solidFill>
              </a:rPr>
              <a:t>National model federation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462272"/>
            <a:ext cx="8412480" cy="73152"/>
          </a:xfrm>
          <a:prstGeom prst="rect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0896" y="4425696"/>
            <a:ext cx="128016" cy="128016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72968" y="4425696"/>
            <a:ext cx="128016" cy="128016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25696"/>
            <a:ext cx="128016" cy="128016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77656" y="4425696"/>
            <a:ext cx="128016" cy="128016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617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080"/>
                </a:solidFill>
              </a:rPr>
              <a:t>Q1 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18104" y="4617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080"/>
                </a:solidFill>
              </a:rPr>
              <a:t>Q2 2024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0176" y="4617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080"/>
                </a:solidFill>
              </a:rPr>
              <a:t>Q1 2025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42248" y="4617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080"/>
                </a:solidFill>
              </a:rPr>
              <a:t>Q3 2025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7B93B0"/>
                </a:solidFill>
              </a:rPr>
              <a:t>CYBERSHIELD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Prevent. Protect.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93B0"/>
                </a:solidFill>
              </a:rPr>
              <a:t>Transforming cybercrime response in Tamil Nadu through predictive AI intelligence.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487168"/>
            <a:ext cx="2011680" cy="822960"/>
          </a:xfrm>
          <a:prstGeom prst="rect">
            <a:avLst/>
          </a:prstGeom>
          <a:solidFill>
            <a:srgbClr val="0D1F35"/>
          </a:solidFill>
          <a:ln w="7620">
            <a:solidFill>
              <a:srgbClr val="1A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328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3B0"/>
                </a:solidFill>
              </a:rPr>
              <a:t>Prediction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2487168"/>
            <a:ext cx="2011680" cy="822960"/>
          </a:xfrm>
          <a:prstGeom prst="rect">
            <a:avLst/>
          </a:prstGeom>
          <a:solidFill>
            <a:srgbClr val="0D1F35"/>
          </a:solidFill>
          <a:ln w="7620">
            <a:solidFill>
              <a:srgbClr val="1A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5328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28986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3B0"/>
                </a:solidFill>
              </a:rPr>
              <a:t>Complaint to Intervention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2487168"/>
            <a:ext cx="2011680" cy="822960"/>
          </a:xfrm>
          <a:prstGeom prst="rect">
            <a:avLst/>
          </a:prstGeom>
          <a:solidFill>
            <a:srgbClr val="0D1F35"/>
          </a:solidFill>
          <a:ln w="762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5328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₹4.2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8986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3B0"/>
                </a:solidFill>
              </a:rPr>
              <a:t>Funds Secured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547872"/>
            <a:ext cx="3474720" cy="45720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Request a Live Demo 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56080"/>
                </a:solidFill>
              </a:rPr>
              <a:t>Contact: cybershield@tnpolice.gov.in  |  Helpline: 1930  |  Confidential — For Law Enforcement Use Only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60" y="85060"/>
            <a:ext cx="3487480" cy="9214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1"/>
                </a:solidFill>
              </a:rPr>
              <a:t>CONCLUSION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60" y="1183758"/>
            <a:ext cx="9058940" cy="3820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</a:t>
            </a:r>
            <a:r>
              <a:rPr lang="en-US" dirty="0" err="1"/>
              <a:t>CyberShield</a:t>
            </a:r>
            <a:r>
              <a:rPr lang="en-US" dirty="0"/>
              <a:t> Analytics Platform demonstrates how machine learning and predictive analytics can strengthen cybercrime prevention and investigation processes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By forecasting high-risk cash withdrawal locations, the system enables law enforcement agencies to take proactive action before fraudulent transactions are completed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integration of real-time complaint analysis, banking data, and intelligent alert mechanisms improves operational efficiency and reduces response time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proposed framework enhances public safety by supporting faster intervention, better resource allocation, and improved decision-making for cybercrime authorities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Overall, this project highlights the potential of AI-driven cybersecurity solutions in building a smarter, more secure, and technology-enabled crime prevention system.</a:t>
            </a:r>
          </a:p>
        </p:txBody>
      </p:sp>
    </p:spTree>
    <p:extLst>
      <p:ext uri="{BB962C8B-B14F-4D97-AF65-F5344CB8AC3E}">
        <p14:creationId xmlns:p14="http://schemas.microsoft.com/office/powerpoint/2010/main" val="922335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632"/>
            <a:ext cx="9143999" cy="45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4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11420</TotalTime>
  <Words>1421</Words>
  <Application>Microsoft Office PowerPoint</Application>
  <PresentationFormat>On-screen Show (16:9)</PresentationFormat>
  <Paragraphs>342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Analytics – Predictive Analytics Framework for Cybercrime Intervention</dc:title>
  <dc:subject>PptxGenJS Presentation</dc:subject>
  <dc:creator>CyberShield Analytics Team</dc:creator>
  <cp:lastModifiedBy>HP</cp:lastModifiedBy>
  <cp:revision>7</cp:revision>
  <dcterms:created xsi:type="dcterms:W3CDTF">2026-06-07T19:13:03Z</dcterms:created>
  <dcterms:modified xsi:type="dcterms:W3CDTF">2026-06-17T03:23:11Z</dcterms:modified>
</cp:coreProperties>
</file>